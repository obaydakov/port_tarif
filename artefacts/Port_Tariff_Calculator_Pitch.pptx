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Port Tariff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88"/>
                </a:solidFill>
                <a:latin typeface="Calibri"/>
              </a:defRPr>
            </a:pPr>
            <a:r>
              <a:t>Agentic RAG System for Maritime Port Dues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An AI-powered system that ingests any Port Tariff PDF and a natural language vessel query to automatically calculate all applicable port dues -- with no hardcoded rates in the calculation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AF9"/>
                </a:solidFill>
                <a:latin typeface="Calibri"/>
              </a:defRPr>
            </a:pPr>
            <a:r>
              <a:t>Built with Python  |  OpenAI gpt-5.4  |  LangChain  |  ChromaDB  | 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Marcura -- Generative AI Solutions Developer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3A"/>
                </a:solidFill>
                <a:latin typeface="Calibri"/>
              </a:defRPr>
            </a:pPr>
            <a:r>
              <a:rPr dirty="0"/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581333"/>
            <a:ext cx="50292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1.</a:t>
            </a:r>
            <a:r>
              <a:rPr lang="en-AE" sz="2000" dirty="0"/>
              <a:t>  </a:t>
            </a:r>
            <a:r>
              <a:rPr sz="2000" dirty="0"/>
              <a:t>Natural Language Query --&gt; LLM parses to structured </a:t>
            </a:r>
            <a:r>
              <a:rPr sz="2000" dirty="0" err="1"/>
              <a:t>VesselProfile</a:t>
            </a:r>
            <a:endParaRPr sz="2000" dirty="0"/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2.  PDF --&gt; </a:t>
            </a:r>
            <a:r>
              <a:rPr sz="2000" dirty="0" err="1"/>
              <a:t>pdfplumber</a:t>
            </a:r>
            <a:r>
              <a:rPr sz="2000" dirty="0"/>
              <a:t> --&gt; </a:t>
            </a:r>
            <a:r>
              <a:rPr sz="2000" dirty="0" err="1"/>
              <a:t>LangChain</a:t>
            </a:r>
            <a:r>
              <a:rPr sz="2000" dirty="0"/>
              <a:t> chunks --&gt; </a:t>
            </a:r>
            <a:r>
              <a:rPr sz="2000" dirty="0" err="1"/>
              <a:t>ChromaDB</a:t>
            </a:r>
            <a:r>
              <a:rPr sz="2000" dirty="0"/>
              <a:t> vector store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3.  Semantic retrieval per tariff type (6 parallel queries)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4.  OpenAI structured output --&gt; </a:t>
            </a:r>
            <a:r>
              <a:rPr sz="2000" dirty="0" err="1"/>
              <a:t>ExtractedTariffRule</a:t>
            </a:r>
            <a:r>
              <a:rPr sz="2000" dirty="0"/>
              <a:t> (</a:t>
            </a:r>
            <a:r>
              <a:rPr sz="2000" dirty="0" err="1"/>
              <a:t>Pydantic</a:t>
            </a:r>
            <a:r>
              <a:rPr sz="2000" dirty="0"/>
              <a:t>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5.  Generic </a:t>
            </a:r>
            <a:r>
              <a:rPr sz="2000" dirty="0" err="1"/>
              <a:t>apply_rule</a:t>
            </a:r>
            <a:r>
              <a:rPr sz="2000" dirty="0"/>
              <a:t>() calculator -- zero tariff-specific code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6.  </a:t>
            </a:r>
            <a:r>
              <a:rPr sz="2000" dirty="0" err="1"/>
              <a:t>CalculationResult</a:t>
            </a:r>
            <a:r>
              <a:rPr sz="2000" dirty="0"/>
              <a:t> --&gt; CLI report or JSON API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27432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3A"/>
                </a:solidFill>
                <a:latin typeface="Calibri"/>
              </a:defRPr>
            </a:pPr>
            <a:r>
              <a:rPr dirty="0"/>
              <a:t>Core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931" y="1367134"/>
            <a:ext cx="5757237" cy="535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Schema-Driven -- LLM populates a typed </a:t>
            </a:r>
            <a:r>
              <a:rPr sz="2000" dirty="0" err="1"/>
              <a:t>Pydantic</a:t>
            </a:r>
            <a:r>
              <a:rPr sz="2000" dirty="0"/>
              <a:t> schema; a single generic engine applies any rule to any vessel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Natural Language Input -- users describe vessels in plain English; no JSON required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Parallel Extraction -- all 6 tariff types extracted concurrently via </a:t>
            </a:r>
            <a:r>
              <a:rPr sz="2000" dirty="0" err="1"/>
              <a:t>ThreadPoolExecutor</a:t>
            </a:r>
            <a:r>
              <a:rPr sz="2000" dirty="0"/>
              <a:t> (~5x speedup)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Graceful Fallback -- LOW-confidence extractions transparently use hardcoded rates (same code path)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Rule Caching -- extracted rules persisted by PDF hash; re-runs skip LLM entirely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Document-Agnostic -- new port tariff = re-index PDF, zero code changes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Solution Design -- Modules &amp;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3A"/>
                </a:solidFill>
                <a:latin typeface="Calibri"/>
              </a:defRPr>
            </a:pPr>
            <a:r>
              <a:t>Module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query_parser.py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8288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 dirty="0"/>
              <a:t>NL text -&gt; </a:t>
            </a:r>
            <a:r>
              <a:rPr sz="1200" dirty="0" err="1"/>
              <a:t>VesselProfile</a:t>
            </a:r>
            <a:endParaRPr sz="1200" dirty="0"/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20116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1965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document_processor.py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12848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/>
              <a:t>PDF -&gt; PageContent -&gt; LangChain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96896"/>
            <a:ext cx="20116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777240" y="25968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tariff_extractor.py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96896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/>
              <a:t>ChromaDB index + OpenAI structured extraction + disk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80944"/>
            <a:ext cx="201168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TextBox 14"/>
          <p:cNvSpPr txBox="1"/>
          <p:nvPr/>
        </p:nvSpPr>
        <p:spPr>
          <a:xfrm>
            <a:off x="777240" y="298094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tariff_schema.py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80944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 dirty="0" err="1"/>
              <a:t>ExtractedTariffRule</a:t>
            </a:r>
            <a:r>
              <a:rPr sz="1200" dirty="0"/>
              <a:t> + </a:t>
            </a:r>
            <a:r>
              <a:rPr sz="1200" dirty="0" err="1"/>
              <a:t>RateBracket</a:t>
            </a:r>
            <a:r>
              <a:rPr sz="1200" dirty="0"/>
              <a:t> (schema contract)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64992"/>
            <a:ext cx="201168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/>
          <p:cNvSpPr txBox="1"/>
          <p:nvPr/>
        </p:nvSpPr>
        <p:spPr>
          <a:xfrm>
            <a:off x="777240" y="3364992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vessel_profile.py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6499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/>
              <a:t>VesselProfile Pydantic model + derived props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49040"/>
            <a:ext cx="20116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1" name="TextBox 20"/>
          <p:cNvSpPr txBox="1"/>
          <p:nvPr/>
        </p:nvSpPr>
        <p:spPr>
          <a:xfrm>
            <a:off x="777240" y="3749040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calculator.py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74904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/>
              <a:t>Generic apply_rule() -- zero tariff-specific 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33088"/>
            <a:ext cx="20116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4" name="TextBox 23"/>
          <p:cNvSpPr txBox="1"/>
          <p:nvPr/>
        </p:nvSpPr>
        <p:spPr>
          <a:xfrm>
            <a:off x="777240" y="4133088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agent.py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13308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 dirty="0"/>
              <a:t>Parallel orchestration + fallback + report formatter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17136"/>
            <a:ext cx="2011680" cy="3200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777240" y="451713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fallback_rates.py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17136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 dirty="0"/>
              <a:t>Transnet hardcoded rates as </a:t>
            </a:r>
            <a:r>
              <a:rPr sz="1200" dirty="0" err="1"/>
              <a:t>ExtractedTariffRule</a:t>
            </a:r>
            <a:r>
              <a:rPr sz="1200" dirty="0"/>
              <a:t> objects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01184"/>
            <a:ext cx="2011680" cy="3200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0" name="TextBox 29"/>
          <p:cNvSpPr txBox="1"/>
          <p:nvPr/>
        </p:nvSpPr>
        <p:spPr>
          <a:xfrm>
            <a:off x="777240" y="490118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main.py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901184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 dirty="0"/>
              <a:t>CLI: validate / calculate / 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285232"/>
            <a:ext cx="2011680" cy="3200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777240" y="5285232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api.py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285232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200" dirty="0" err="1"/>
              <a:t>FastAPI</a:t>
            </a:r>
            <a:r>
              <a:rPr sz="1200" dirty="0"/>
              <a:t>: /query, /calculate, /calculate/upload, /health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852160"/>
            <a:ext cx="22860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rPr sz="1100"/>
              <a:t>AI / LLM layer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5852160"/>
            <a:ext cx="2286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8" name="TextBox 37"/>
          <p:cNvSpPr txBox="1"/>
          <p:nvPr/>
        </p:nvSpPr>
        <p:spPr>
          <a:xfrm>
            <a:off x="2834640" y="585216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rPr sz="1100"/>
              <a:t>Data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5852160"/>
            <a:ext cx="22860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0" name="TextBox 39"/>
          <p:cNvSpPr txBox="1"/>
          <p:nvPr/>
        </p:nvSpPr>
        <p:spPr>
          <a:xfrm>
            <a:off x="4663440" y="585216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rPr sz="1100"/>
              <a:t>Calculation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83080" y="6405485"/>
            <a:ext cx="228600" cy="1828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2" name="TextBox 41"/>
          <p:cNvSpPr txBox="1"/>
          <p:nvPr/>
        </p:nvSpPr>
        <p:spPr>
          <a:xfrm>
            <a:off x="2057400" y="6405485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rPr sz="1100"/>
              <a:t>Fallback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6395335"/>
            <a:ext cx="228600" cy="18288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4" name="TextBox 43"/>
          <p:cNvSpPr txBox="1"/>
          <p:nvPr/>
        </p:nvSpPr>
        <p:spPr>
          <a:xfrm>
            <a:off x="3931920" y="637716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rPr sz="1100"/>
              <a:t>Entry points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1280160"/>
            <a:ext cx="27432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3A"/>
                </a:solidFill>
                <a:latin typeface="Calibri"/>
              </a:defRPr>
            </a:pPr>
            <a:r>
              <a:t>Execution Flow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1920240"/>
            <a:ext cx="10972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8" name="TextBox 47"/>
          <p:cNvSpPr txBox="1"/>
          <p:nvPr/>
        </p:nvSpPr>
        <p:spPr>
          <a:xfrm>
            <a:off x="6629400" y="1920240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INPUT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1920240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/>
              <a:t>NL query OR structured JSON + Port Tariff PDF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26580" y="2335286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rPr sz="1100" dirty="0"/>
              <a:t>|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2621280"/>
            <a:ext cx="10972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2" name="TextBox 51"/>
          <p:cNvSpPr txBox="1"/>
          <p:nvPr/>
        </p:nvSpPr>
        <p:spPr>
          <a:xfrm>
            <a:off x="6629400" y="2621280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PARSE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2621280"/>
            <a:ext cx="384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/>
              <a:t>query_parser: LLM structured output -&gt; VesselProfile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26580" y="3120405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rPr sz="1100" dirty="0"/>
              <a:t>|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3444240"/>
            <a:ext cx="10972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6" name="TextBox 55"/>
          <p:cNvSpPr txBox="1"/>
          <p:nvPr/>
        </p:nvSpPr>
        <p:spPr>
          <a:xfrm>
            <a:off x="6629400" y="3444240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INDEX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3444240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/>
              <a:t>document_processor: PDF -&gt; chunks -&gt; ChromaDB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877315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rPr sz="1100"/>
              <a:t>|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4155440"/>
            <a:ext cx="1097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0" name="TextBox 59"/>
          <p:cNvSpPr txBox="1"/>
          <p:nvPr/>
        </p:nvSpPr>
        <p:spPr>
          <a:xfrm>
            <a:off x="6629400" y="4155440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EXTRACT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023506"/>
            <a:ext cx="3840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 dirty="0" err="1"/>
              <a:t>tariff_extractor</a:t>
            </a:r>
            <a:r>
              <a:rPr sz="1400" dirty="0"/>
              <a:t>: 6x parallel retrieval + LLM extraction</a:t>
            </a:r>
            <a:br>
              <a:rPr sz="1400" dirty="0"/>
            </a:br>
            <a:r>
              <a:rPr sz="1400" dirty="0"/>
              <a:t>Cache hit? -&gt; skip LLM  |  LOW confidence? -&gt; fallback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4606285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rPr sz="1100" dirty="0"/>
              <a:t>|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4978400"/>
            <a:ext cx="1097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4" name="TextBox 63"/>
          <p:cNvSpPr txBox="1"/>
          <p:nvPr/>
        </p:nvSpPr>
        <p:spPr>
          <a:xfrm>
            <a:off x="6629400" y="4978400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CALCULATE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4978400"/>
            <a:ext cx="3840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/>
              <a:t>calculator: apply_rule(vessel, rule) for each tariff</a:t>
            </a:r>
            <a:br>
              <a:rPr sz="1400"/>
            </a:br>
            <a:r>
              <a:rPr sz="1400"/>
              <a:t>Schema-driven: brackets / per-GT / flat fee / time-based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415300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rPr sz="1100"/>
              <a:t>|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5801360"/>
            <a:ext cx="1097280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8" name="TextBox 67"/>
          <p:cNvSpPr txBox="1"/>
          <p:nvPr/>
        </p:nvSpPr>
        <p:spPr>
          <a:xfrm>
            <a:off x="6629400" y="5801360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5801360"/>
            <a:ext cx="384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rPr sz="1400" dirty="0" err="1"/>
              <a:t>CalculationResult</a:t>
            </a:r>
            <a:r>
              <a:rPr sz="1400" dirty="0"/>
              <a:t> -&gt; CLI report or JSON API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Accuracy &amp; Validation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dirty="0"/>
              <a:t>Reference vessel: SUDESTADA (Bulk Carrier, GT 51,300) at Durban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766624"/>
              </p:ext>
            </p:extLst>
          </p:nvPr>
        </p:nvGraphicFramePr>
        <p:xfrm>
          <a:off x="1371600" y="18288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 dirty="0"/>
                        <a:t>Tariff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 dirty="0"/>
                        <a:t>Calculated (ZAR)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/>
                        <a:t>Ground Truth (ZAR)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/>
                        <a:t>Error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Light Dues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60,062.04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60,062.04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rPr sz="2000"/>
                        <a:t>0.00%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VTS Dues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33,345.00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33,315.75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+0.09%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Pilotage Dues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47,189.94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47,189.94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rPr sz="2000" dirty="0"/>
                        <a:t>0.00%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Towage Dues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147,074.38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147,074.38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rPr sz="2000" dirty="0"/>
                        <a:t>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Running Lines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19,854.72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19,639.50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+1.10%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Port Dues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199,371.35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/>
                        <a:t>199,549.22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0" dirty="0"/>
                        <a:t>-0.09%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B1D3A"/>
                          </a:solidFill>
                          <a:latin typeface="Calibri"/>
                        </a:defRPr>
                      </a:pPr>
                      <a:r>
                        <a:rPr sz="2000"/>
                        <a:t>TOTAL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B1D3A"/>
                          </a:solidFill>
                          <a:latin typeface="Calibri"/>
                        </a:defRPr>
                      </a:pPr>
                      <a:r>
                        <a:rPr sz="2000"/>
                        <a:t>506,897.43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B1D3A"/>
                          </a:solidFill>
                          <a:latin typeface="Calibri"/>
                        </a:defRPr>
                      </a:pPr>
                      <a:r>
                        <a:rPr sz="2000"/>
                        <a:t>506,830.83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B1D3A"/>
                          </a:solidFill>
                          <a:latin typeface="Calibri"/>
                        </a:defRPr>
                      </a:pPr>
                      <a:r>
                        <a:rPr sz="2000" dirty="0"/>
                        <a:t>+0.01%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66928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88"/>
                </a:solidFill>
                <a:latin typeface="Calibri"/>
              </a:defRPr>
            </a:pPr>
            <a:r>
              <a:rPr sz="2200" dirty="0"/>
              <a:t>3 tariffs exact match  |  All 6 within +/-1.1%  |  Total within +0.01% of ground truth (spec says 'Approx.')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Highlights &amp; Code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200" dirty="0"/>
              <a:t>  AI &amp; LLM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1843226"/>
            <a:ext cx="4043684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OpenAI structured output -- guaranteed valid </a:t>
            </a:r>
            <a:r>
              <a:rPr sz="2000" dirty="0" err="1"/>
              <a:t>Pydantic</a:t>
            </a:r>
            <a:r>
              <a:rPr sz="2000" dirty="0"/>
              <a:t> schema, no JSON parsing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Natural language query parsing -- free-text to </a:t>
            </a:r>
            <a:r>
              <a:rPr sz="2000" dirty="0" err="1"/>
              <a:t>VesselProfile</a:t>
            </a:r>
            <a:r>
              <a:rPr sz="2000" dirty="0"/>
              <a:t> via LLM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RAG with </a:t>
            </a:r>
            <a:r>
              <a:rPr sz="2000" dirty="0" err="1"/>
              <a:t>ChromaDB</a:t>
            </a:r>
            <a:r>
              <a:rPr sz="2000" dirty="0"/>
              <a:t> -- semantic retrieval with section-aware chunking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Section mismatch detection -- validates extracted sections, auto-downgrades on mismatch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Prompt engineering -- tariff-specific patterns (flat fee, per-GT, bracket) guide the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2918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298448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200" dirty="0"/>
              <a:t>  Engineering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5281" y="1755648"/>
            <a:ext cx="3820161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Strict type safety -- </a:t>
            </a:r>
            <a:r>
              <a:rPr sz="2000" dirty="0" err="1"/>
              <a:t>mypy</a:t>
            </a:r>
            <a:r>
              <a:rPr sz="2000" dirty="0"/>
              <a:t> strict + </a:t>
            </a:r>
            <a:r>
              <a:rPr sz="2000" dirty="0" err="1"/>
              <a:t>pyright</a:t>
            </a:r>
            <a:r>
              <a:rPr sz="2000" dirty="0"/>
              <a:t> strict + </a:t>
            </a:r>
            <a:r>
              <a:rPr sz="2000" dirty="0" err="1"/>
              <a:t>beartype</a:t>
            </a:r>
            <a:r>
              <a:rPr sz="2000" dirty="0"/>
              <a:t> runtime checks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26 unit tests -- all 6 tariff patterns, edge cases, schema validation, error paths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 err="1"/>
              <a:t>Pydantic</a:t>
            </a:r>
            <a:r>
              <a:rPr sz="2000" dirty="0"/>
              <a:t> v2 models -- typed schemas, </a:t>
            </a:r>
            <a:r>
              <a:rPr sz="2000" dirty="0" err="1"/>
              <a:t>model_validator</a:t>
            </a:r>
            <a:r>
              <a:rPr sz="2000" dirty="0"/>
              <a:t>, </a:t>
            </a:r>
            <a:r>
              <a:rPr sz="2000" dirty="0" err="1"/>
              <a:t>model_copy</a:t>
            </a:r>
            <a:endParaRPr sz="20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Clean error handling -- failed tariffs produce structured error items, not silent drops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Zero dead code -- no unused deps, no leftover imports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3291840" cy="4572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298448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200"/>
              <a:t>  Performance &amp;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755648"/>
            <a:ext cx="399288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Parallel extraction -- </a:t>
            </a:r>
            <a:r>
              <a:rPr sz="2000" dirty="0" err="1"/>
              <a:t>ThreadPoolExecutor</a:t>
            </a:r>
            <a:r>
              <a:rPr sz="2000" dirty="0"/>
              <a:t>, 6 tariffs concurrently (~5x speedup)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Disk rule cache -- SHA-256 PDF hash keying, skip LLM on cache hit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 err="1"/>
              <a:t>FastAPI</a:t>
            </a:r>
            <a:r>
              <a:rPr sz="2000" dirty="0"/>
              <a:t> REST -- /query (NL), /calculate (JSON), /calculate/upload (file), /health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Vector store caching -- </a:t>
            </a:r>
            <a:r>
              <a:rPr sz="2000" dirty="0" err="1"/>
              <a:t>ChromaDB</a:t>
            </a:r>
            <a:r>
              <a:rPr sz="2000" dirty="0"/>
              <a:t> persisted, rebuilt only on demand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Fallback mode -- instant results with --no-</a:t>
            </a:r>
            <a:r>
              <a:rPr sz="2000" dirty="0" err="1"/>
              <a:t>llm</a:t>
            </a:r>
            <a:r>
              <a:rPr sz="2000" dirty="0"/>
              <a:t>, no API key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Production Readiness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6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rPr sz="2400" dirty="0"/>
              <a:t>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7" y="1476206"/>
            <a:ext cx="5672023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Full agentic RAG pipeline (PDF -&gt; LLM -&gt; calculation)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Natural language vessel query (CLI + API)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Generic schema-driven calculator (no hardcoded logic)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6 tariff types with +0.01% accuracy vs ground truth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26 unit tests, strict type checking (</a:t>
            </a:r>
            <a:r>
              <a:rPr sz="2000" dirty="0" err="1"/>
              <a:t>mypy</a:t>
            </a:r>
            <a:r>
              <a:rPr sz="2000" dirty="0"/>
              <a:t> + </a:t>
            </a:r>
            <a:r>
              <a:rPr sz="2000" dirty="0" err="1"/>
              <a:t>pyright</a:t>
            </a:r>
            <a:r>
              <a:rPr sz="2000" dirty="0"/>
              <a:t>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 err="1"/>
              <a:t>FastAPI</a:t>
            </a:r>
            <a:r>
              <a:rPr sz="2000" dirty="0"/>
              <a:t> with 4 endpoints + Swagger docs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Parallel extraction + disk caching for performance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Graceful fallback for deterministic offline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27432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056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6C00"/>
                </a:solidFill>
                <a:latin typeface="Calibri"/>
              </a:defRPr>
            </a:pPr>
            <a:r>
              <a:rPr sz="2400" dirty="0"/>
              <a:t>Roadmap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4376" y="1448733"/>
            <a:ext cx="6027623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CI/CD -- GitHub Actions (</a:t>
            </a:r>
            <a:r>
              <a:rPr sz="2000" dirty="0" err="1"/>
              <a:t>pytest</a:t>
            </a:r>
            <a:r>
              <a:rPr sz="2000" dirty="0"/>
              <a:t> + type-check gates)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Docker -- single-stage build, Cloud Run / ECS / Fargate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Monitoring -- structured logging + </a:t>
            </a:r>
            <a:r>
              <a:rPr sz="2000" dirty="0" err="1"/>
              <a:t>OpenTelemetry</a:t>
            </a:r>
            <a:r>
              <a:rPr sz="2000" dirty="0"/>
              <a:t> tracing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Surcharge engine -- time-of-day + event-based surcharges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Multi-document -- index multiple port tariff PDFs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Cargo dues -- Section 7 (dry bulk, breakbulk, containers)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Vessel enrichment -- auto-fetch specs from IMO databases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Multi-currency -- live FX conversion (ZAR/USD/EUR/GBP)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Calibri"/>
              </a:defRPr>
            </a:pPr>
            <a:r>
              <a:rPr sz="2400" dirty="0"/>
              <a:t>Generalizable by design -- new port tariff = re-index PDF, zero code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946</Words>
  <Application>Microsoft Office PowerPoint</Application>
  <PresentationFormat>Widescreen</PresentationFormat>
  <Paragraphs>139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Oleg Baydakov</cp:lastModifiedBy>
  <cp:revision>4</cp:revision>
  <dcterms:created xsi:type="dcterms:W3CDTF">2013-01-27T09:14:16Z</dcterms:created>
  <dcterms:modified xsi:type="dcterms:W3CDTF">2026-04-15T11:33:47Z</dcterms:modified>
  <cp:category/>
</cp:coreProperties>
</file>